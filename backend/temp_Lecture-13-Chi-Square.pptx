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680" r:id="rId2"/>
    <p:sldId id="352" r:id="rId3"/>
    <p:sldId id="770" r:id="rId4"/>
    <p:sldId id="354" r:id="rId5"/>
    <p:sldId id="356" r:id="rId6"/>
    <p:sldId id="764" r:id="rId7"/>
    <p:sldId id="357" r:id="rId8"/>
    <p:sldId id="358" r:id="rId9"/>
    <p:sldId id="760" r:id="rId10"/>
    <p:sldId id="360" r:id="rId11"/>
    <p:sldId id="759" r:id="rId12"/>
    <p:sldId id="257" r:id="rId13"/>
    <p:sldId id="758" r:id="rId14"/>
    <p:sldId id="763" r:id="rId15"/>
    <p:sldId id="762" r:id="rId16"/>
    <p:sldId id="751" r:id="rId17"/>
    <p:sldId id="300" r:id="rId18"/>
    <p:sldId id="603" r:id="rId19"/>
  </p:sldIdLst>
  <p:sldSz cx="12192000" cy="6858000"/>
  <p:notesSz cx="112172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tp--2" initials="u" lastIdx="0" clrIdx="0">
    <p:extLst>
      <p:ext uri="{19B8F6BF-5375-455C-9EA6-DF929625EA0E}">
        <p15:presenceInfo xmlns:p15="http://schemas.microsoft.com/office/powerpoint/2012/main" userId="ustp--2" providerId="None"/>
      </p:ext>
    </p:extLst>
  </p:cmAuthor>
  <p:cmAuthor id="2" name="Claire Delight Caliso" initials="CDC" lastIdx="1" clrIdx="1">
    <p:extLst>
      <p:ext uri="{19B8F6BF-5375-455C-9EA6-DF929625EA0E}">
        <p15:presenceInfo xmlns:p15="http://schemas.microsoft.com/office/powerpoint/2012/main" userId="Claire Delight Calis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952"/>
    <a:srgbClr val="FFCC00"/>
    <a:srgbClr val="FDB614"/>
    <a:srgbClr val="00648E"/>
    <a:srgbClr val="008CC4"/>
    <a:srgbClr val="0078AA"/>
    <a:srgbClr val="006F9D"/>
    <a:srgbClr val="007BAD"/>
    <a:srgbClr val="0083B8"/>
    <a:srgbClr val="00A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5373" autoAdjust="0"/>
  </p:normalViewPr>
  <p:slideViewPr>
    <p:cSldViewPr snapToGrid="0">
      <p:cViewPr varScale="1">
        <p:scale>
          <a:sx n="101" d="100"/>
          <a:sy n="101" d="100"/>
        </p:scale>
        <p:origin x="77" y="192"/>
      </p:cViewPr>
      <p:guideLst>
        <p:guide orient="horz" pos="2304"/>
        <p:guide pos="3816"/>
      </p:guideLst>
    </p:cSldViewPr>
  </p:slideViewPr>
  <p:outlineViewPr>
    <p:cViewPr>
      <p:scale>
        <a:sx n="33" d="100"/>
        <a:sy n="33" d="100"/>
      </p:scale>
      <p:origin x="0" y="-3264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/>
          <a:lstStyle>
            <a:lvl1pPr algn="l">
              <a:defRPr sz="14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353862" y="2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/>
          <a:lstStyle>
            <a:lvl1pPr algn="r">
              <a:defRPr sz="1400"/>
            </a:lvl1pPr>
          </a:lstStyle>
          <a:p>
            <a:fld id="{631D74F8-289F-4E41-AD30-F84A1146F530}" type="datetimeFigureOut">
              <a:rPr lang="en-PH" smtClean="0"/>
              <a:t>06/04/2025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6746119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 anchor="b"/>
          <a:lstStyle>
            <a:lvl1pPr algn="l">
              <a:defRPr sz="14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353862" y="6746119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 anchor="b"/>
          <a:lstStyle>
            <a:lvl1pPr algn="r">
              <a:defRPr sz="1400"/>
            </a:lvl1pPr>
          </a:lstStyle>
          <a:p>
            <a:fld id="{C07BE27D-9BAF-4B50-B4A7-F31B61725EB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9883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/>
          <a:lstStyle>
            <a:lvl1pPr algn="l">
              <a:defRPr sz="14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353862" y="2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/>
          <a:lstStyle>
            <a:lvl1pPr algn="r">
              <a:defRPr sz="1400"/>
            </a:lvl1pPr>
          </a:lstStyle>
          <a:p>
            <a:fld id="{DD7240A6-4180-40B5-8A36-F4799AA39475}" type="datetimeFigureOut">
              <a:rPr lang="en-PH" smtClean="0"/>
              <a:t>06/04/2025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782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4674" tIns="52336" rIns="104674" bIns="52336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21729" y="3418067"/>
            <a:ext cx="8973820" cy="2796599"/>
          </a:xfrm>
          <a:prstGeom prst="rect">
            <a:avLst/>
          </a:prstGeom>
        </p:spPr>
        <p:txBody>
          <a:bodyPr vert="horz" lIns="104674" tIns="52336" rIns="104674" bIns="5233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746119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 anchor="b"/>
          <a:lstStyle>
            <a:lvl1pPr algn="l">
              <a:defRPr sz="14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53862" y="6746119"/>
            <a:ext cx="4860820" cy="356357"/>
          </a:xfrm>
          <a:prstGeom prst="rect">
            <a:avLst/>
          </a:prstGeom>
        </p:spPr>
        <p:txBody>
          <a:bodyPr vert="horz" lIns="104674" tIns="52336" rIns="104674" bIns="52336" rtlCol="0" anchor="b"/>
          <a:lstStyle>
            <a:lvl1pPr algn="r">
              <a:defRPr sz="1400"/>
            </a:lvl1pPr>
          </a:lstStyle>
          <a:p>
            <a:fld id="{3972673A-94EB-4903-80E2-676C1B13AAB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8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Medical Science / College of </a:t>
            </a:r>
            <a:r>
              <a:rPr lang="en-PH"/>
              <a:t>Medicine should be added</a:t>
            </a:r>
            <a:endParaRPr lang="en-PH" dirty="0"/>
          </a:p>
          <a:p>
            <a:r>
              <a:rPr lang="en-PH" dirty="0"/>
              <a:t>Food Security and Safety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9109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9EABE6F-4DD1-42DE-A486-999242803C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3548CC7-4755-45F6-9147-5C91DB5F1F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82BEA9CA-834B-431E-80FF-AE61A59E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4B04543D-8122-478C-A5A0-A29AAC78F9E9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9EABE6F-4DD1-42DE-A486-999242803C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3548CC7-4755-45F6-9147-5C91DB5F1F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82BEA9CA-834B-431E-80FF-AE61A59E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4B04543D-8122-478C-A5A0-A29AAC78F9E9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707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0632962-942B-4829-A18D-D3FB612A77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8C4ABAAF-50B4-4EC1-89D4-703397D4F7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8207DABA-72C4-479A-A9C2-D7E7BB1A0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0B2458DC-77F6-4AE0-8AE5-6EAEF2B7B762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58982C4D-BE56-4553-8BB0-3B15111F9C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CD692F1-1619-42FB-94AB-0E3B27E978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5EB941C3-86E6-4036-B1A3-8CA4850A6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DC445517-FC8B-4065-BAC6-5D0E045BCF22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9EABE6F-4DD1-42DE-A486-999242803C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3548CC7-4755-45F6-9147-5C91DB5F1F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82BEA9CA-834B-431E-80FF-AE61A59E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4B04543D-8122-478C-A5A0-A29AAC78F9E9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77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33F14043-2F81-4E93-B9CE-5851AAC438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BC0082E-BC0E-43E0-84A6-BC74946176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D8379F2-915C-451F-A0D2-814CB3830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7B2E7845-DE80-4D73-8482-8C4726E6B53E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33F14043-2F81-4E93-B9CE-5851AAC438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BC0082E-BC0E-43E0-84A6-BC74946176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D8379F2-915C-451F-A0D2-814CB3830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7B2E7845-DE80-4D73-8482-8C4726E6B53E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13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33F14043-2F81-4E93-B9CE-5851AAC438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BC0082E-BC0E-43E0-84A6-BC74946176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D8379F2-915C-451F-A0D2-814CB3830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7B2E7845-DE80-4D73-8482-8C4726E6B53E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13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85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2673A-94EB-4903-80E2-676C1B13AAB9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656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C55D-29E0-4DE9-9546-316B920AA747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2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E62E-B9BC-449C-A008-E25F2DE90511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49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D152-FF2A-42BA-A519-55E467A10F39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6EA5-81B2-433F-8854-77AC92060E32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3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6F78-7137-4F4F-A7DA-CB76307FE402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93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C959F-98CD-4A84-BFBA-D05E959FECE8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24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27C4-7410-442D-A6E6-813834D14C2B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63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B123-FF6B-4420-9E80-1D2948D07E81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69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1689-4398-4E7A-B50B-6588E0178F93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6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E552-9209-4D46-B6BF-1F38D9F63CD6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29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F39F-EC94-44B2-8124-C4B85F8361E7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035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A343DB-AFFD-4FFF-9B34-8FC70DEA74EC}"/>
              </a:ext>
            </a:extLst>
          </p:cNvPr>
          <p:cNvSpPr/>
          <p:nvPr userDrawn="1"/>
        </p:nvSpPr>
        <p:spPr>
          <a:xfrm>
            <a:off x="0" y="1524000"/>
            <a:ext cx="3251200" cy="457200"/>
          </a:xfrm>
          <a:prstGeom prst="rect">
            <a:avLst/>
          </a:prstGeom>
          <a:gradFill>
            <a:gsLst>
              <a:gs pos="17000">
                <a:srgbClr val="196AB4"/>
              </a:gs>
              <a:gs pos="88000">
                <a:srgbClr val="E4F2E8">
                  <a:lumMod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5C0E7-AFA2-4974-84FB-85CF00936623}"/>
              </a:ext>
            </a:extLst>
          </p:cNvPr>
          <p:cNvSpPr txBox="1"/>
          <p:nvPr userDrawn="1"/>
        </p:nvSpPr>
        <p:spPr>
          <a:xfrm>
            <a:off x="-6350" y="1447800"/>
            <a:ext cx="18870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ChapterNumber"/>
          <p:cNvSpPr>
            <a:spLocks noGrp="1"/>
          </p:cNvSpPr>
          <p:nvPr>
            <p:ph type="body" sz="quarter" idx="10"/>
          </p:nvPr>
        </p:nvSpPr>
        <p:spPr>
          <a:xfrm>
            <a:off x="9482667" y="152400"/>
            <a:ext cx="2709333" cy="1295400"/>
          </a:xfrm>
          <a:prstGeom prst="rect">
            <a:avLst/>
          </a:prstGeom>
          <a:effectLst/>
        </p:spPr>
        <p:txBody>
          <a:bodyPr anchor="ctr"/>
          <a:lstStyle>
            <a:lvl1pPr marL="0" indent="0" algn="ctr">
              <a:defRPr sz="12000">
                <a:solidFill>
                  <a:srgbClr val="0B3F73"/>
                </a:solidFill>
                <a:effectLst/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pterTitle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9448800" cy="1447800"/>
          </a:xfrm>
          <a:prstGeom prst="rect">
            <a:avLst/>
          </a:prstGeom>
        </p:spPr>
        <p:txBody>
          <a:bodyPr anchor="ctr"/>
          <a:lstStyle>
            <a:lvl1pPr marL="0" indent="0" algn="l">
              <a:defRPr sz="3600" b="1">
                <a:solidFill>
                  <a:srgbClr val="196AB4"/>
                </a:solidFill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hapterSubTitle" hidden="1"/>
          <p:cNvSpPr>
            <a:spLocks noGrp="1"/>
          </p:cNvSpPr>
          <p:nvPr>
            <p:ph type="body" sz="quarter" idx="12"/>
          </p:nvPr>
        </p:nvSpPr>
        <p:spPr>
          <a:xfrm>
            <a:off x="1693334" y="1270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ectionNumber" hidden="1"/>
          <p:cNvSpPr>
            <a:spLocks noGrp="1"/>
          </p:cNvSpPr>
          <p:nvPr>
            <p:ph type="body" sz="quarter" idx="13"/>
          </p:nvPr>
        </p:nvSpPr>
        <p:spPr>
          <a:xfrm>
            <a:off x="1693334" y="1778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ectionTitle" hidden="1"/>
          <p:cNvSpPr>
            <a:spLocks noGrp="1"/>
          </p:cNvSpPr>
          <p:nvPr>
            <p:ph type="body" sz="quarter" idx="14"/>
          </p:nvPr>
        </p:nvSpPr>
        <p:spPr>
          <a:xfrm>
            <a:off x="1693334" y="2286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ObjectiveNumber" hidden="1"/>
          <p:cNvSpPr>
            <a:spLocks noGrp="1"/>
          </p:cNvSpPr>
          <p:nvPr>
            <p:ph type="body" sz="quarter" idx="15"/>
          </p:nvPr>
        </p:nvSpPr>
        <p:spPr>
          <a:xfrm>
            <a:off x="1693334" y="2794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Objective" hidden="1"/>
          <p:cNvSpPr>
            <a:spLocks noGrp="1"/>
          </p:cNvSpPr>
          <p:nvPr>
            <p:ph type="body" sz="quarter" idx="16"/>
          </p:nvPr>
        </p:nvSpPr>
        <p:spPr>
          <a:xfrm>
            <a:off x="1693334" y="3302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ItemNumber" hidden="1"/>
          <p:cNvSpPr>
            <a:spLocks noGrp="1"/>
          </p:cNvSpPr>
          <p:nvPr>
            <p:ph type="body" sz="quarter" idx="17"/>
          </p:nvPr>
        </p:nvSpPr>
        <p:spPr>
          <a:xfrm>
            <a:off x="1693334" y="3810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ItemTitle" hidden="1"/>
          <p:cNvSpPr>
            <a:spLocks noGrp="1"/>
          </p:cNvSpPr>
          <p:nvPr>
            <p:ph type="body" sz="quarter" idx="18"/>
          </p:nvPr>
        </p:nvSpPr>
        <p:spPr>
          <a:xfrm>
            <a:off x="1693334" y="4318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S" hidden="1"/>
          <p:cNvSpPr>
            <a:spLocks noGrp="1"/>
          </p:cNvSpPr>
          <p:nvPr>
            <p:ph type="body" sz="quarter" idx="19"/>
          </p:nvPr>
        </p:nvSpPr>
        <p:spPr>
          <a:xfrm>
            <a:off x="1693334" y="4826000"/>
            <a:ext cx="6773333" cy="444500"/>
          </a:xfrm>
          <a:prstGeom prst="rect">
            <a:avLst/>
          </a:prstGeom>
        </p:spPr>
        <p:txBody>
          <a:bodyPr/>
          <a:lstStyle>
            <a:lvl1pPr marL="0" indent="0">
              <a:defRPr sz="2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body" sz="quarter" idx="20"/>
          </p:nvPr>
        </p:nvSpPr>
        <p:spPr>
          <a:xfrm>
            <a:off x="9851136" y="6556248"/>
            <a:ext cx="2036064" cy="228600"/>
          </a:xfrm>
          <a:prstGeom prst="rect">
            <a:avLst/>
          </a:prstGeom>
        </p:spPr>
        <p:txBody>
          <a:bodyPr anchor="ctr"/>
          <a:lstStyle>
            <a:lvl1pPr marL="0" indent="0">
              <a:defRPr sz="18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pyright" hidden="1"/>
          <p:cNvSpPr>
            <a:spLocks noGrp="1"/>
          </p:cNvSpPr>
          <p:nvPr>
            <p:ph type="body" sz="quarter" idx="21"/>
          </p:nvPr>
        </p:nvSpPr>
        <p:spPr>
          <a:xfrm>
            <a:off x="1524000" y="6556248"/>
            <a:ext cx="7924800" cy="22860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000">
                <a:latin typeface="Calibri"/>
              </a:defRPr>
            </a:lvl1pPr>
            <a:lvl2pPr>
              <a:defRPr sz="2800">
                <a:latin typeface="Calibri"/>
              </a:defRPr>
            </a:lvl2pPr>
            <a:lvl3pPr>
              <a:defRPr sz="2800">
                <a:latin typeface="Calibri"/>
              </a:defRPr>
            </a:lvl3pPr>
            <a:lvl4pPr>
              <a:defRPr sz="2800">
                <a:latin typeface="Calibri"/>
              </a:defRPr>
            </a:lvl4pPr>
            <a:lvl5pPr>
              <a:defRPr sz="2800"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520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1692B-1D91-4E07-8F98-B263E65F8775}" type="datetime1">
              <a:rPr lang="en-PH" smtClean="0">
                <a:solidFill>
                  <a:prstClr val="black">
                    <a:tint val="75000"/>
                  </a:prstClr>
                </a:solidFill>
              </a:rPr>
              <a:t>06/04/2025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66FC-F6B3-4FA3-996B-2C3AB228AA14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1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12527"/>
            <a:ext cx="12192000" cy="6775373"/>
            <a:chOff x="0" y="-220342"/>
            <a:chExt cx="12192000" cy="677537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20342"/>
              <a:ext cx="12192000" cy="677537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0087" y="-7815"/>
              <a:ext cx="6764287" cy="14423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0438" y="3988102"/>
              <a:ext cx="2002351" cy="2185416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78607" y="6137803"/>
            <a:ext cx="877747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>
                <a:solidFill>
                  <a:srgbClr val="1C195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Presented by:</a:t>
            </a:r>
          </a:p>
          <a:p>
            <a:pPr>
              <a:lnSpc>
                <a:spcPct val="85000"/>
              </a:lnSpc>
            </a:pPr>
            <a:r>
              <a:rPr lang="en-US" sz="2400" b="1" u="sng" dirty="0">
                <a:solidFill>
                  <a:srgbClr val="1C195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RHEGIE M.  CAGA-</a:t>
            </a:r>
            <a:r>
              <a:rPr lang="en-US" sz="2400" b="1" u="sng" dirty="0" err="1">
                <a:solidFill>
                  <a:srgbClr val="1C195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ANAN,PhD</a:t>
            </a:r>
            <a:r>
              <a:rPr lang="en-US" sz="2400" b="1" u="sng" dirty="0">
                <a:solidFill>
                  <a:srgbClr val="1C195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977908"/>
            <a:ext cx="808648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6000" dirty="0">
                <a:solidFill>
                  <a:srgbClr val="1C1952"/>
                </a:solidFill>
                <a:latin typeface="Britannic Bold" panose="020B0903060703020204" pitchFamily="34" charset="0"/>
              </a:rPr>
              <a:t>Chi-Square Test of Independence</a:t>
            </a:r>
          </a:p>
        </p:txBody>
      </p:sp>
    </p:spTree>
    <p:extLst>
      <p:ext uri="{BB962C8B-B14F-4D97-AF65-F5344CB8AC3E}">
        <p14:creationId xmlns:p14="http://schemas.microsoft.com/office/powerpoint/2010/main" val="194682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9A19C-C931-46B0-8680-2C27BC7CB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82352"/>
            <a:ext cx="12272790" cy="7251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D553CC-22F6-45C2-8A48-0F4049C0B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30" y="777398"/>
            <a:ext cx="8523978" cy="5600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9A19C-C931-46B0-8680-2C27BC7CB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82352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DD0844-9328-4556-BAFF-82DA8FAF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40" y="739423"/>
            <a:ext cx="8851978" cy="549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3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4A05E70-A008-4AC0-8019-87ACAB2E7A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93707"/>
            <a:ext cx="12272790" cy="7251707"/>
          </a:xfrm>
          <a:prstGeom prst="rect">
            <a:avLst/>
          </a:prstGeom>
        </p:spPr>
      </p:pic>
      <p:sp>
        <p:nvSpPr>
          <p:cNvPr id="19460" name="ChapterSubTitle" hidden="1">
            <a:extLst>
              <a:ext uri="{FF2B5EF4-FFF2-40B4-BE49-F238E27FC236}">
                <a16:creationId xmlns:a16="http://schemas.microsoft.com/office/drawing/2014/main" id="{672C3A27-83CF-48A0-987B-19877F52A1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1" name="SectionNumber" hidden="1">
            <a:extLst>
              <a:ext uri="{FF2B5EF4-FFF2-40B4-BE49-F238E27FC236}">
                <a16:creationId xmlns:a16="http://schemas.microsoft.com/office/drawing/2014/main" id="{4EE6F6D0-6C1B-432D-A96D-89EE5D6C4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alibri" panose="020F0502020204030204" pitchFamily="34" charset="0"/>
              </a:rPr>
              <a:t>1.1</a:t>
            </a:r>
          </a:p>
        </p:txBody>
      </p:sp>
      <p:sp>
        <p:nvSpPr>
          <p:cNvPr id="19462" name="SectionTitle" hidden="1">
            <a:extLst>
              <a:ext uri="{FF2B5EF4-FFF2-40B4-BE49-F238E27FC236}">
                <a16:creationId xmlns:a16="http://schemas.microsoft.com/office/drawing/2014/main" id="{40444978-7F91-4808-AFEF-4AB836EB4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Calibri" panose="020F0502020204030204" pitchFamily="34" charset="0"/>
              </a:rPr>
              <a:t>Descriptive and Inferential Statistics</a:t>
            </a:r>
          </a:p>
        </p:txBody>
      </p:sp>
      <p:sp>
        <p:nvSpPr>
          <p:cNvPr id="19463" name="ObjectiveNumber" hidden="1">
            <a:extLst>
              <a:ext uri="{FF2B5EF4-FFF2-40B4-BE49-F238E27FC236}">
                <a16:creationId xmlns:a16="http://schemas.microsoft.com/office/drawing/2014/main" id="{A3F0BA9E-D7F0-48A0-8D47-836886788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4" name="Objective" hidden="1">
            <a:extLst>
              <a:ext uri="{FF2B5EF4-FFF2-40B4-BE49-F238E27FC236}">
                <a16:creationId xmlns:a16="http://schemas.microsoft.com/office/drawing/2014/main" id="{DE300FC9-B888-464D-925B-896F1B07E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5" name="ItemNumber" hidden="1">
            <a:extLst>
              <a:ext uri="{FF2B5EF4-FFF2-40B4-BE49-F238E27FC236}">
                <a16:creationId xmlns:a16="http://schemas.microsoft.com/office/drawing/2014/main" id="{95FFF29F-F4EA-4851-A5E5-40D4BCE8CE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6" name="ItemTitle" hidden="1">
            <a:extLst>
              <a:ext uri="{FF2B5EF4-FFF2-40B4-BE49-F238E27FC236}">
                <a16:creationId xmlns:a16="http://schemas.microsoft.com/office/drawing/2014/main" id="{2FB4A945-8D13-4854-A9CC-7F88F51862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7" name="CONS" hidden="1">
            <a:extLst>
              <a:ext uri="{FF2B5EF4-FFF2-40B4-BE49-F238E27FC236}">
                <a16:creationId xmlns:a16="http://schemas.microsoft.com/office/drawing/2014/main" id="{587BD54E-1AA1-460C-9B56-80280F9CDD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9" name="Copyright" hidden="1">
            <a:extLst>
              <a:ext uri="{FF2B5EF4-FFF2-40B4-BE49-F238E27FC236}">
                <a16:creationId xmlns:a16="http://schemas.microsoft.com/office/drawing/2014/main" id="{45A508DE-BA52-4144-A7E7-93994B92F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67000" y="6556375"/>
            <a:ext cx="5943600" cy="2286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D3EB0-53C4-4415-BA6C-BEC4315A6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047" y="763970"/>
            <a:ext cx="7789738" cy="54679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E06DC-C14E-4C0D-8BB5-C9C8A41C28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F0E53A-691C-4DA1-85A6-9ADE7CDE0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128" y="893745"/>
            <a:ext cx="9995744" cy="5461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E06DC-C14E-4C0D-8BB5-C9C8A41C28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4FBA96-5664-4AAD-899F-EBC5AA4C0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06" y="771631"/>
            <a:ext cx="7480544" cy="3470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28A064-684E-4AFD-BE42-9C92DF165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537" y="2421807"/>
            <a:ext cx="2613945" cy="16967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499803-B734-4E3D-AA7D-6DB813C60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06" y="4241976"/>
            <a:ext cx="4367840" cy="20279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D857E8-DB6E-4D89-9910-FA73DFDF5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936" y="4342244"/>
            <a:ext cx="7131658" cy="192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106B0C-E1CA-47B0-BF7B-6259C37CC9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4C3C31-0DE2-4649-A597-DE5413308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6" y="675943"/>
            <a:ext cx="6348977" cy="1749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329E3-935F-433E-AA5B-DD25C4A3C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663" y="2489856"/>
            <a:ext cx="7456903" cy="20111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FE98D-6930-49FC-8ED8-2435A330A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567" y="4752673"/>
            <a:ext cx="5906012" cy="1524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EBABF6A1-A38F-4EDF-85D2-129CDAD9F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65"/>
            <a:ext cx="12272790" cy="7251707"/>
          </a:xfrm>
          <a:prstGeom prst="rect">
            <a:avLst/>
          </a:prstGeom>
        </p:spPr>
      </p:pic>
      <p:sp>
        <p:nvSpPr>
          <p:cNvPr id="25604" name="AutoShape 4">
            <a:extLst>
              <a:ext uri="{FF2B5EF4-FFF2-40B4-BE49-F238E27FC236}">
                <a16:creationId xmlns:a16="http://schemas.microsoft.com/office/drawing/2014/main" id="{47D436A1-EB88-439A-A3F5-5B22FB7065C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743201" y="1828800"/>
            <a:ext cx="6467475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solidFill>
                <a:srgbClr val="1C1952"/>
              </a:solidFill>
            </a:endParaRPr>
          </a:p>
        </p:txBody>
      </p:sp>
      <p:sp>
        <p:nvSpPr>
          <p:cNvPr id="25606" name="Rectangle 7">
            <a:extLst>
              <a:ext uri="{FF2B5EF4-FFF2-40B4-BE49-F238E27FC236}">
                <a16:creationId xmlns:a16="http://schemas.microsoft.com/office/drawing/2014/main" id="{657FCEE1-3265-4C6C-8B92-45D42D60C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1938338"/>
            <a:ext cx="2743200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sp>
        <p:nvSpPr>
          <p:cNvPr id="25609" name="Rectangle 10">
            <a:extLst>
              <a:ext uri="{FF2B5EF4-FFF2-40B4-BE49-F238E27FC236}">
                <a16:creationId xmlns:a16="http://schemas.microsoft.com/office/drawing/2014/main" id="{049F98E9-5CE3-496B-9D79-FCA129DF0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976563"/>
            <a:ext cx="3505200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sp>
        <p:nvSpPr>
          <p:cNvPr id="25612" name="Rectangle 13">
            <a:extLst>
              <a:ext uri="{FF2B5EF4-FFF2-40B4-BE49-F238E27FC236}">
                <a16:creationId xmlns:a16="http://schemas.microsoft.com/office/drawing/2014/main" id="{B21F75D5-AE21-479C-8B7E-EB6676D34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490914"/>
            <a:ext cx="2743200" cy="9429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sp>
        <p:nvSpPr>
          <p:cNvPr id="25613" name="Rectangle 14">
            <a:extLst>
              <a:ext uri="{FF2B5EF4-FFF2-40B4-BE49-F238E27FC236}">
                <a16:creationId xmlns:a16="http://schemas.microsoft.com/office/drawing/2014/main" id="{0919A8ED-680D-4520-9C32-FDECD9614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4433889"/>
            <a:ext cx="3505200" cy="523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sp>
        <p:nvSpPr>
          <p:cNvPr id="25614" name="Rectangle 15">
            <a:extLst>
              <a:ext uri="{FF2B5EF4-FFF2-40B4-BE49-F238E27FC236}">
                <a16:creationId xmlns:a16="http://schemas.microsoft.com/office/drawing/2014/main" id="{F0E8D300-87C1-4691-9787-4000FCDCB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433889"/>
            <a:ext cx="2743200" cy="523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sp>
        <p:nvSpPr>
          <p:cNvPr id="25615" name="Rectangle 16">
            <a:extLst>
              <a:ext uri="{FF2B5EF4-FFF2-40B4-BE49-F238E27FC236}">
                <a16:creationId xmlns:a16="http://schemas.microsoft.com/office/drawing/2014/main" id="{2D0B7536-371F-4FB8-B4D1-DD89EB555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452689"/>
            <a:ext cx="62484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>
              <a:solidFill>
                <a:srgbClr val="1C195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4C262-B999-46E7-877D-CC26FD9DC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370" y="1372829"/>
            <a:ext cx="7458130" cy="23094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338C24-0CD1-42F9-B6F8-B6978436D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74" y="4330448"/>
            <a:ext cx="6400824" cy="1839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DFB568-0EA6-4DBC-919B-EA53FDEB4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206" y="4367999"/>
            <a:ext cx="5259075" cy="1841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E06DC-C14E-4C0D-8BB5-C9C8A41C28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CE7572-7512-4068-9B77-80ECBE4EE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29" y="811087"/>
            <a:ext cx="8059500" cy="107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C75D2-F0CE-4AFE-AD09-3C8DE708B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385" y="2064434"/>
            <a:ext cx="7885943" cy="100915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44A8C8-0F24-49DC-84D9-7B875E9C2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852757"/>
              </p:ext>
            </p:extLst>
          </p:nvPr>
        </p:nvGraphicFramePr>
        <p:xfrm>
          <a:off x="270267" y="3368543"/>
          <a:ext cx="3311764" cy="1535967"/>
        </p:xfrm>
        <a:graphic>
          <a:graphicData uri="http://schemas.openxmlformats.org/drawingml/2006/table">
            <a:tbl>
              <a:tblPr/>
              <a:tblGrid>
                <a:gridCol w="1201612">
                  <a:extLst>
                    <a:ext uri="{9D8B030D-6E8A-4147-A177-3AD203B41FA5}">
                      <a16:colId xmlns:a16="http://schemas.microsoft.com/office/drawing/2014/main" val="295931206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3799789277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2576164453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1291385933"/>
                    </a:ext>
                  </a:extLst>
                </a:gridCol>
              </a:tblGrid>
              <a:tr h="404202"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Observed Table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872218"/>
                  </a:ext>
                </a:extLst>
              </a:tr>
              <a:tr h="404202"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Voted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936668"/>
                  </a:ext>
                </a:extLst>
              </a:tr>
              <a:tr h="404202"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Didn't Vote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406611"/>
                  </a:ext>
                </a:extLst>
              </a:tr>
              <a:tr h="323361"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368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5267E4-9AB8-4FAE-A34C-BFB39187D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54858"/>
              </p:ext>
            </p:extLst>
          </p:nvPr>
        </p:nvGraphicFramePr>
        <p:xfrm>
          <a:off x="270266" y="5027152"/>
          <a:ext cx="3311764" cy="1074600"/>
        </p:xfrm>
        <a:graphic>
          <a:graphicData uri="http://schemas.openxmlformats.org/drawingml/2006/table">
            <a:tbl>
              <a:tblPr/>
              <a:tblGrid>
                <a:gridCol w="1525644">
                  <a:extLst>
                    <a:ext uri="{9D8B030D-6E8A-4147-A177-3AD203B41FA5}">
                      <a16:colId xmlns:a16="http://schemas.microsoft.com/office/drawing/2014/main" val="1626934203"/>
                    </a:ext>
                  </a:extLst>
                </a:gridCol>
                <a:gridCol w="893060">
                  <a:extLst>
                    <a:ext uri="{9D8B030D-6E8A-4147-A177-3AD203B41FA5}">
                      <a16:colId xmlns:a16="http://schemas.microsoft.com/office/drawing/2014/main" val="1547347355"/>
                    </a:ext>
                  </a:extLst>
                </a:gridCol>
                <a:gridCol w="893060">
                  <a:extLst>
                    <a:ext uri="{9D8B030D-6E8A-4147-A177-3AD203B41FA5}">
                      <a16:colId xmlns:a16="http://schemas.microsoft.com/office/drawing/2014/main" val="725218592"/>
                    </a:ext>
                  </a:extLst>
                </a:gridCol>
              </a:tblGrid>
              <a:tr h="358200"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Expected Table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Women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60028"/>
                  </a:ext>
                </a:extLst>
              </a:tr>
              <a:tr h="358200"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Voted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36452"/>
                  </a:ext>
                </a:extLst>
              </a:tr>
              <a:tr h="358200"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Didn't Vote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H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74842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F8F2653-4E75-417E-94E7-806498215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430" y="3429000"/>
            <a:ext cx="7230130" cy="25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4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04205C-2DB7-428C-A5B6-126116497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93707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2DCED4-7AE6-4009-8BBC-23532985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23" y="725152"/>
            <a:ext cx="9969144" cy="3840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E7191-7A4C-4BC9-848A-8A06F2114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1187" y="4731238"/>
            <a:ext cx="3764908" cy="14016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04205C-2DB7-428C-A5B6-126116497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93707"/>
            <a:ext cx="12272790" cy="72517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BDC1C0-106A-42E6-B687-DE9D28BD3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42" y="864360"/>
            <a:ext cx="8915098" cy="2301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0F868-FFE1-4E34-98FC-8C16E78CD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2" y="3232145"/>
            <a:ext cx="6860354" cy="1256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0EE112-8980-4E90-A73F-2096F9651A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0396" y="3429000"/>
            <a:ext cx="2020069" cy="896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428FE7-500D-47E5-890F-CE83A9B61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901" y="4752483"/>
            <a:ext cx="6670858" cy="147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2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B69BE-2816-4043-9007-10811976F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8F399D-29BC-4BC7-852E-466AEA496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53" y="824017"/>
            <a:ext cx="6804346" cy="2803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DA9FCB-5CD3-4453-8C81-C55FC28E8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53" y="3817622"/>
            <a:ext cx="6804346" cy="16271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B78D-518B-4DAB-B05A-21BC82297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227" y="3232145"/>
            <a:ext cx="4755239" cy="14834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04205C-2DB7-428C-A5B6-126116497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90" y="-393707"/>
            <a:ext cx="12272790" cy="7251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25255A-5EFE-48FC-8982-DBA77B110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90" y="773301"/>
            <a:ext cx="8057497" cy="1093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6002E8-2FCC-4E41-B315-CF115A074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89" y="2003660"/>
            <a:ext cx="4979600" cy="1443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ACEC04-CB1A-4577-89F6-75FD43038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322" y="1866584"/>
            <a:ext cx="4065780" cy="43745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F88EF8-A785-4EEE-8C1B-21B64C3DF2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153" y="3583881"/>
            <a:ext cx="5926965" cy="11489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338FF3-014B-4486-B544-5C7E6CFA23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49" y="5213442"/>
            <a:ext cx="6181889" cy="94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5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B69BE-2816-4043-9007-10811976F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81431-8B15-42F8-8F8F-51C8ADE53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76" y="711192"/>
            <a:ext cx="9558837" cy="1998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B8E453-5EB0-4034-B149-198BE62BF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488" y="3010118"/>
            <a:ext cx="7058619" cy="1048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41398-23CB-42E1-AED6-1094D9A35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487" y="4278640"/>
            <a:ext cx="7058619" cy="125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75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1B69BE-2816-4043-9007-10811976F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D665ED-CAFD-45F5-B7D3-A144E058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53" y="831530"/>
            <a:ext cx="7943095" cy="1760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E63624-3063-4B21-9554-8037F03D0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364" y="2618251"/>
            <a:ext cx="6350975" cy="365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42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33EA67-3101-4285-9752-870EEA22C1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696" y="0"/>
            <a:ext cx="12272790" cy="688921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09" y="1110932"/>
            <a:ext cx="9038122" cy="509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9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7918FE-F0A4-B7E3-6F00-F03557614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95" y="-393707"/>
            <a:ext cx="12272790" cy="7251707"/>
          </a:xfrm>
          <a:prstGeom prst="rect">
            <a:avLst/>
          </a:prstGeom>
        </p:spPr>
      </p:pic>
      <p:pic>
        <p:nvPicPr>
          <p:cNvPr id="49156" name="Picture 2" descr="C:\Users\Jojo\Documents\2013\funny\images.jpg">
            <a:extLst>
              <a:ext uri="{FF2B5EF4-FFF2-40B4-BE49-F238E27FC236}">
                <a16:creationId xmlns:a16="http://schemas.microsoft.com/office/drawing/2014/main" id="{5EFCC220-DB26-5952-B15F-8E10D3B8D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48" y="731836"/>
            <a:ext cx="7362852" cy="561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952" y="1673371"/>
            <a:ext cx="3060097" cy="351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548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PSSECTIONTITLE" val="Descriptive and Inferential Statistics"/>
  <p:tag name="AMPSSECTIONNUMBER" val="1.1"/>
</p:tagLst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19976</TotalTime>
  <Words>70</Words>
  <Application>Microsoft Office PowerPoint</Application>
  <PresentationFormat>Widescreen</PresentationFormat>
  <Paragraphs>42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Narrow</vt:lpstr>
      <vt:lpstr>Britannic Bold</vt:lpstr>
      <vt:lpstr>Calibri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ustp--2</dc:creator>
  <cp:lastModifiedBy>user</cp:lastModifiedBy>
  <cp:revision>1192</cp:revision>
  <cp:lastPrinted>2022-07-06T16:04:25Z</cp:lastPrinted>
  <dcterms:created xsi:type="dcterms:W3CDTF">2018-03-14T03:59:53Z</dcterms:created>
  <dcterms:modified xsi:type="dcterms:W3CDTF">2025-04-06T17:13:43Z</dcterms:modified>
</cp:coreProperties>
</file>